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7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482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5EE"/>
          </a:solidFill>
          <a:ln w="12700">
            <a:solidFill>
              <a:srgbClr val="FBF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F2A541">
              <a:alpha val="75000"/>
            </a:srgbClr>
          </a:solidFill>
          <a:ln w="12700">
            <a:solidFill>
              <a:srgbClr val="F2A54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92640" y="3291840"/>
            <a:ext cx="3291840" cy="329184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Módulo 1 · Fundamentos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Prof. Antonio Marcos Selmini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</a:t>
            </a:r>
            <a:r>
              <a:rPr lang="en-US" sz="3200" b="1" dirty="0" err="1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</a:t>
            </a: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200" b="1" dirty="0" err="1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este</a:t>
            </a: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material </a:t>
            </a:r>
            <a:r>
              <a:rPr lang="en-US" sz="3200" b="1" dirty="0" err="1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45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Um pouco de história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2996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onde veio o C++ e onde ele é usado hoje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33472"/>
            <a:ext cx="566928" cy="56692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31520" y="2633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542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Tipos de dados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926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Inteiros, reais, caracteres, lógicos e strings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66928" cy="56692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731520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4381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Entrada e saída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82219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Os objetos cout e cin da biblioteca iostream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4425696"/>
            <a:ext cx="566928" cy="56692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31520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3425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Estruturas condicionais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71830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if-else e switch-case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5321808"/>
            <a:ext cx="566928" cy="56692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731520" y="5321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303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Estruturas de repetição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61441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for, while e do-while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5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737360" cy="1737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21031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Um pouco de história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32004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Como e por que o C++ surgiu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origem do C++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76656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Criado por Bjarne Stroustrup a partir de 1979, nos laboratórios Bell (AT&amp;T), nos Estados Unidos.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Objetivo: unir a eficiência e a proximidade do hardware da linguagem C aos recursos de organização de programas grandes (classes) inspirados em Simula.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projeto nasceu como “C with Classes”; em 1983 recebeu o nome C++.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nome é um trocadilho: ++ é o operador de incremento em C — ou seja, “C acrescido de algo”.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092440" y="1810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Ideia central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2304288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 tão eficiente quanto C e, ao mesmo tempo, oferecer abstrações de alto nível — sem cobrar por recursos que o programa não usa.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Linha do tempo da linguagem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788920"/>
            <a:ext cx="914400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33272" y="2587752"/>
            <a:ext cx="402336" cy="402336"/>
          </a:xfrm>
          <a:prstGeom prst="ellipse">
            <a:avLst/>
          </a:prstGeom>
          <a:solidFill>
            <a:srgbClr val="D953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1979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2004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Início do “C with Classes”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62072" y="2587752"/>
            <a:ext cx="402336" cy="402336"/>
          </a:xfrm>
          <a:prstGeom prst="ellipse">
            <a:avLst/>
          </a:prstGeom>
          <a:solidFill>
            <a:srgbClr val="D953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1945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1985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2004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1ª versão comercial e o livro de Stroustrup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90872" y="2587752"/>
            <a:ext cx="402336" cy="402336"/>
          </a:xfrm>
          <a:prstGeom prst="ellipse">
            <a:avLst/>
          </a:prstGeom>
          <a:solidFill>
            <a:srgbClr val="D953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0233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1998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2004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Primeira norma ISO: C++98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19672" y="2587752"/>
            <a:ext cx="402336" cy="402336"/>
          </a:xfrm>
          <a:prstGeom prst="ellipse">
            <a:avLst/>
          </a:prstGeom>
          <a:solidFill>
            <a:srgbClr val="D953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8521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2004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C++11: início do “C++ moderno”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48472" y="2587752"/>
            <a:ext cx="402336" cy="402336"/>
          </a:xfrm>
          <a:prstGeom prst="ellipse">
            <a:avLst/>
          </a:prstGeom>
          <a:solidFill>
            <a:srgbClr val="D953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76809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2014/2017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32004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C++14 e C++17: revisões incrementais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77272" y="2587752"/>
            <a:ext cx="402336" cy="402336"/>
          </a:xfrm>
          <a:prstGeom prst="ellipse">
            <a:avLst/>
          </a:prstGeom>
          <a:solidFill>
            <a:srgbClr val="D953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95097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2020/2023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2004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C++20 (módulos, conceitos) e C++23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86868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Observação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norma ISO é revisada a cada três anos; o que muda entre versões são recursos adicionais — a base estudada neste módulo permanece válida em todas elas.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Onde o C++ está presente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68680" y="1810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Jogos e motores gráficos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042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Unreal Engine, Unity (núcleo), motores físicos e de renderização.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37960" y="1810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Sistemas e navegadores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042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Componentes do Windows, Chrome e Firefox, bancos de dados como MySQL.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68680" y="35935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Sistemas embarcados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87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Automóveis, aviônica, robótica e dispositivos com recursos limitados.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342900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537960" y="35935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Alto desempenho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087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Simulações científicas, mercado financeiro e bibliotecas de IA (TensorFlow, PyTorch).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6868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que aprender?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Controle fino de memória e desempenho, base de muitas linguagens modernas e ampla presença no mercado.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 básica de um programa em C++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669280" cy="3291840"/>
          </a:xfrm>
          <a:prstGeom prst="roundRect">
            <a:avLst>
              <a:gd name="adj" fmla="val 3333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367528" y="448056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367528" y="448056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"Olá, mundo!" &lt;&lt; endl;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45920"/>
            <a:ext cx="493776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#include &lt;iostream&gt;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Inclui a biblioteca de entrada e saída.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namespace std;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Evita escrever std:: antes de cout, cin e endl.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 main()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Função principal: ponto de início da execução.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return 0;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Indica ao sistema operacional que o programa terminou com sucesso.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5212080"/>
            <a:ext cx="5669280" cy="777240"/>
          </a:xfrm>
          <a:prstGeom prst="roundRect">
            <a:avLst>
              <a:gd name="adj" fmla="val 1411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68680" y="5212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Atenção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 instrução termina com ponto e vírgula e os blocos são delimitados por chaves { }.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95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737360" cy="1737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21031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Tipos de dados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32004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Como o C++ representa números, caracteres e valores lógicos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Tipos fundamentais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318211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Tipo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 que armazena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Tamanho típico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Exemplo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Números inteiros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 bytes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idade = 20;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Reais (precisão simples)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 bytes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 nota = 8.5f;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Reais (precisão dupla)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 bytes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 pi = 3.14159;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Um único caractere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 byte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 letra = 'A';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Verdadeiro ou falso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 byte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 ativo = true;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120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6868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Observação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Os tamanhos dependem do compilador e da arquitetura; use sizeof(tipo) para verificar na sua máquina.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Modificadores e o tipo string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4864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Modificadores de tamanho e sinal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short, long e long long alteram a faixa de valores dos inteiros.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unsigned permite apenas valores não negativos, dobrando o limite superior.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Texto: std::string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Não é um tipo fundamental; vem da biblioteca &lt;string&gt;.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Permite concatenar com + e obter o tamanho com .size().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64592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671048" y="475488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0671048" y="475488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810512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&lt;string&gt;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int contador = 0;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grande = 9000000000LL;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nome = "Ana";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saud = "Olá, " + nome;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saud.size();  // 8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Declaração, inicialização e constantes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4114800"/>
          </a:xfrm>
          <a:prstGeom prst="roundRect">
            <a:avLst>
              <a:gd name="adj" fmla="val 2667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733288" y="530352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733288" y="530352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a;          // sem valor inicial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10;     // forma clássica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c{20};      // forma uniforme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d = 3.14;  // deduz: double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PI = 3.14159;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3;         // ERRO: constante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x = 7 / 2;    // 3 (inteira)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y = 7 / 2.0;  // 3.5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645920"/>
            <a:ext cx="45720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Uma variável não inicializada contém “lixo” de memória — sempre atribua um valor antes de usar.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pede ao compilador que deduza o tipo a partir do valor inicial.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torna o valor imutável após a inicialização.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divisão entre dois inteiros descarta a parte fracionária.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5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737360" cy="1737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21031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Entrada e saída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32004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Conversando com o usuário por meio de cout e cin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Saída de dados: cout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493776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cout (console output) envia dados para a tela.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operador &lt;&lt; “insere” valores no fluxo de saída e pode ser encadeado.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endl encerra a linha; '\n' faz o mesmo e é mais leve.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 possível misturar textos, variáveis e expressões na mesma instrução.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0" y="164592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671048" y="530352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0671048" y="530352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10512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idade = 20;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altura = 1.75;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"Idade: " &lt;&lt; idade &lt;&lt; endl;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"Altura: " &lt;&lt; altura &lt;&lt; '\n';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"Dobro: " &lt;&lt; 2 * idade &lt;&lt; endl;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Saída: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Idade: 20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Altura: 1.75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Dobro: 40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Entrada de dados: cin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493776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cin (console input) lê dados digitados pelo usuário.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operador &gt;&gt; “extrai” um valor do teclado e o converte para o tipo da variável.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Pode ler várias variáveis em sequência, separadas por espaço ou Enter.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ler uma linha inteira com espaços, use getline(cin, variavel).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0" y="164592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671048" y="530352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0671048" y="530352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10512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a, b;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"Dois números: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a &gt;&gt; b;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nome;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"Nome completo: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cin.ignore();   // descarta o Enter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getline(cin, nome);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"Soma: " &lt;&lt; a + b &lt;&lt; endl;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"Olá, " &lt;&lt; nome &lt;&lt; "!";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Exemplo completo: cálculo de média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217920" cy="4754880"/>
          </a:xfrm>
          <a:prstGeom prst="roundRect">
            <a:avLst>
              <a:gd name="adj" fmla="val 2308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16168" y="576072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916168" y="576072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27632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n1, n2, media;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"Primeira nota: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cin &gt;&gt; n1;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"Segunda nota: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cin &gt;&gt; n2;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 = (n1 + n2) / 2;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"Média: " &lt;&lt; media;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223760" y="1645920"/>
            <a:ext cx="4389120" cy="2011680"/>
          </a:xfrm>
          <a:prstGeom prst="roundRect">
            <a:avLst>
              <a:gd name="adj" fmla="val 5455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452360" y="1810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Execução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2304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Primeira nota: 7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Segunda nota: 8.5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Média: 7.75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23760" y="3931920"/>
            <a:ext cx="4389120" cy="13716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452360" y="39319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Dica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Mostre sempre uma mensagem antes de cin: sem ela, o usuário não sabe que o programa está aguardando.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95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737360" cy="1737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21031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Estruturas condicionais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32004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Tomando decisões com if-else e switch-case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Operadores relacionais e lógicos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303520" cy="26517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Relacional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Significado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igual a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diferente de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  &lt;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maior / menor que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  &lt;=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maior ou igual / menor ou igual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303520" cy="21214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Lógico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Significado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E: ambas verdadeiras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OU: pelo menos uma verdadeira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NÃO: inverte o valor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493776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Atenção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Não confunda == (comparação) com = (atribuição). Em C++, if (x = 5) compila e é quase sempre um erro lógico.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 if-else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233672" y="3474720"/>
            <a:ext cx="1389888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233672" y="347472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Sintaxe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(condicao)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executa se verdadeira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executa se falsa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51206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condição é qualquer expressão que resulte em true ou false.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bloco else é opcional.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 chaves podem ser omitidas quando há uma única instrução — mas o uso é recomendado.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671048" y="512064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10671048" y="51206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10512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idade;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idade;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(idade &gt;= 18)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"Maior de idade";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"Menor de idade";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Encadeando condições: else if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669280" cy="4754880"/>
          </a:xfrm>
          <a:prstGeom prst="roundRect">
            <a:avLst>
              <a:gd name="adj" fmla="val 2308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367528" y="576072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367528" y="576072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27632"/>
            <a:ext cx="5303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nota;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nota;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(nota &gt;= 9.0)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"Conceito A";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(nota &gt;= 7.0)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"Conceito B";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(nota &gt;= 5.0)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"Conceito C";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"Reprovado";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645920"/>
            <a:ext cx="48463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 condições são testadas de cima para baixo; apenas o primeiro bloco verdadeiro é executado.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ordem importa: nota 9.5 satisfaz nota &gt;= 7.0, mas foi capturada antes por nota &gt;= 9.0.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else final trata todos os casos restantes.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66560" y="493776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995160" y="49377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Dica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Condições compostas usam &amp;&amp; e ||: if (nota &gt;= 7 &amp;&amp; faltas &lt;= 10)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 switch-case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416552" y="5120640"/>
            <a:ext cx="1389888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416552" y="51206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Sintaxe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(expressao)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valor1: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instruções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valor2: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instruções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nenhum caso correspondeu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45920"/>
            <a:ext cx="53035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 uma expressão com vários valores constantes.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Funciona apenas com inteiros, char e enumerações — não com string nem double.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break encerra o switch; sem ele, a execução “cai” no próximo case (fall-through).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default é opcional e trata os demais valores.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5532120"/>
            <a:ext cx="10972800" cy="685800"/>
          </a:xfrm>
          <a:prstGeom prst="roundRect">
            <a:avLst>
              <a:gd name="adj" fmla="val 16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Quando usar?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Quando uma mesma variável é comparada com vários valores fixos — menus e códigos de opção, por exemplo.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Exemplo: menu de opções com switch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400800" cy="4846320"/>
          </a:xfrm>
          <a:prstGeom prst="roundRect">
            <a:avLst>
              <a:gd name="adj" fmla="val 2264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99048" y="5852160"/>
            <a:ext cx="80467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099048" y="585216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27632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opcao;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"1-Cadastrar 2-Listar: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opcao;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(opcao)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"Cadastrando...";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"Listando...";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"Opção inválida";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06640" y="1645920"/>
            <a:ext cx="4206240" cy="2651760"/>
          </a:xfrm>
          <a:prstGeom prst="roundRect">
            <a:avLst>
              <a:gd name="adj" fmla="val 4138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Equivalente com if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30428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(opcao == 1) {...}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else if (opcao == 2) {...}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else {...}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06640" y="45720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63524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Atenção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Esquecer o break é um dos erros mais comuns em switch.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95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737360" cy="1737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21031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Estruturas de repetição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32004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Executando instruções várias vezes com for, while e do-while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Laço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852160" cy="1737360"/>
          </a:xfrm>
          <a:prstGeom prst="roundRect">
            <a:avLst>
              <a:gd name="adj" fmla="val 6316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965192" y="2926080"/>
            <a:ext cx="1389888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965192" y="292608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Sintaxe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(inicializacao; condicao; passo)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corpo do laço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5852160" cy="219456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965192" y="5349240"/>
            <a:ext cx="1389888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965192" y="53492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Tabuada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76472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10; i++)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"7 x " &lt;&lt; i &lt;&lt; " = "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&lt;&lt; 7 * i &lt;&lt; endl;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645920"/>
            <a:ext cx="47548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Inicialização: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executada uma única vez, antes do laço (int i = 1).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Condição: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testada antes de cada iteração; se falsa, o laço termina.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Passo: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executado ao fim de cada iteração (i++).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Ideal quando o número de repetições é conhecido.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Laço while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852160" cy="1600200"/>
          </a:xfrm>
          <a:prstGeom prst="roundRect">
            <a:avLst>
              <a:gd name="adj" fmla="val 6857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965192" y="2788920"/>
            <a:ext cx="1389888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965192" y="278892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Sintaxe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(condicao)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corpo do laço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852160" cy="2743200"/>
          </a:xfrm>
          <a:prstGeom prst="roundRect">
            <a:avLst>
              <a:gd name="adj" fmla="val 4000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3639312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valor, soma = 0;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"Valores (0 encerra):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valor;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(valor != 0)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+= valor;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cin &gt;&gt; valor;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"Soma: " &lt;&lt; soma &lt;&lt; endl;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645920"/>
            <a:ext cx="47548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condição é testada antes de cada iteração.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a condição for falsa desde o início, o corpo nunca é executado.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Ideal quando o número de repetições não é conhecido previamente.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 dentro do laço deve alterar a condição — caso contrário, o laço será infinito.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Laço do-while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852160" cy="1600200"/>
          </a:xfrm>
          <a:prstGeom prst="roundRect">
            <a:avLst>
              <a:gd name="adj" fmla="val 6857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965192" y="2788920"/>
            <a:ext cx="1389888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965192" y="278892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Sintaxe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corpo do laço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(condicao);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852160" cy="2651760"/>
          </a:xfrm>
          <a:prstGeom prst="roundRect">
            <a:avLst>
              <a:gd name="adj" fmla="val 4138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672584" y="5669280"/>
            <a:ext cx="1682496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672584" y="56692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39312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nota;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"Nota (0 a 10):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cin &gt;&gt; nota;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(nota &lt; 0 || nota &gt; 10);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"Nota válida: " &lt;&lt; nota;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645920"/>
            <a:ext cx="47548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condição é testada depois de cada iteração.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corpo é executado pelo menos uma vez, mesmo que a condição seja falsa.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Observe o ponto e vírgula após while(...).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Uso típico: validar entradas e repetir menus até o usuário escolher sair.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Comparando as três estruturas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for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while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do-while</a:t>
                      </a:r>
                      <a:endParaRPr lang="en-US" sz="2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Teste da condição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Antes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Antes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Depois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Execuções mínimas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Nº de repetições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Conhecido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Desconhecido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Desconhecido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Uso típico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Contagens, percorrer vetores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Ler até um valor de parada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Menus e validação de entrada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6868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Lembre-se  </a:t>
            </a: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Todo laço pode ser escrito com while; for e do-while existem para deixar a intenção do código mais clara.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Controlando o laço: break e continue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800600" y="3383280"/>
            <a:ext cx="1097280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800600" y="3383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10; i++)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 6) break;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i &lt;&lt; "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3 4 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12700">
            <a:solidFill>
              <a:srgbClr val="E2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939528" y="3383280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9939528" y="338328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10512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10; i++) {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% 2 == 0) continue;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i &lt;&lt; " ";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3 5 7 9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68680" y="4279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break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7316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Interrompe o laço imediatamente e continua a execução após ele.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BF5EE"/>
          </a:solidFill>
          <a:ln w="12700">
            <a:solidFill>
              <a:srgbClr val="EFE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446520" y="4279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77316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Pula o restante da iteração atual e passa para a próxima.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27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92608" cy="292608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100584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Exercícios propostos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19072"/>
            <a:ext cx="457200" cy="45720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4592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Leia três números inteiros e mostre o maior deles.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32304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3152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59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Leia um número e informe se ele é par ou ímpar.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145536"/>
            <a:ext cx="457200" cy="45720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315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72384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Apresente um menu com as quatro operações aritméticas usando switch e execute a escolhida.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85876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3152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85616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Mostre todos os múltiplos de 3 entre 1 e 100 com um laço for.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98848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Leia números até que o usuário digite um valor negativo e mostre a média dos valores lidos.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1520" y="5285232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3152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21208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do-while para repetir um menu até que a opção “Sair” seja escolhida.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95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572000" cy="45720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Resumo do módulo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86868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C++ nasceu em 1979 unindo eficiência do C a abstrações de alto nível.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Tipos fundamentais: int, float, double, char e bool; string para texto.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cout e cin realizam saída e entrada de dados.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if-else e switch-case controlam decisões.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for, while e do-while controlam repetições.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Referência: STROUSTRUP, B. Programming: Principles and Practice Using C++. 3. ed. Addison-Wesley, 2024.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263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Linguagem C++ · Módulo 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2674</Words>
  <Application>Microsoft Office PowerPoint</Application>
  <PresentationFormat>Widescreen</PresentationFormat>
  <Paragraphs>482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3" baseType="lpstr">
      <vt:lpstr>Arial</vt:lpstr>
      <vt:lpstr>Calibri Light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C++ — Módulo 1</dc:title>
  <dc:subject>PptxGenJS Presentation</dc:subject>
  <dc:creator>Prof. Antonio Marcos Selmini</dc:creator>
  <cp:lastModifiedBy>Antonio Marcos Selmini</cp:lastModifiedBy>
  <cp:revision>3</cp:revision>
  <dcterms:created xsi:type="dcterms:W3CDTF">2026-09-14T19:34:24Z</dcterms:created>
  <dcterms:modified xsi:type="dcterms:W3CDTF">2026-09-15T02:54:37Z</dcterms:modified>
</cp:coreProperties>
</file>